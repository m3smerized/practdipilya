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9" autoAdjust="0"/>
    <p:restoredTop sz="94610"/>
  </p:normalViewPr>
  <p:slideViewPr>
    <p:cSldViewPr snapToGrid="0" snapToObjects="1">
      <p:cViewPr>
        <p:scale>
          <a:sx n="116" d="100"/>
          <a:sy n="116" d="100"/>
        </p:scale>
        <p:origin x="1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617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68580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Выпускная квалификационная работа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инструментария для no-code разработки Telegram-ботов на Python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04088" y="452628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Киняев Илья Константинович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Направление подготовки: 09.03.01 Информатика и вычислительная техника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562356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Руководитель: Атаян Ануш Михайловна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Санкт-Петербург,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работы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нужен инструмент для создания Telegram-ботов без программирования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01400" y="6437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2618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Telegram-боты применяются для автоматизации типовых коммуникаций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1737360" cy="73152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информирование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80360" y="1920240"/>
            <a:ext cx="1737360" cy="73152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 обращений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920240"/>
            <a:ext cx="1737360" cy="73152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69480" y="1920240"/>
            <a:ext cx="1737360" cy="73152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64040" y="1920240"/>
            <a:ext cx="1737360" cy="73152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54480" y="2880360"/>
            <a:ext cx="0" cy="914400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2880360"/>
            <a:ext cx="0" cy="914400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43600" y="2880360"/>
            <a:ext cx="0" cy="914400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38160" y="2880360"/>
            <a:ext cx="0" cy="914400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332720" y="2880360"/>
            <a:ext cx="0" cy="914400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85800" y="397764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создание даже простого сценарного бота обычно требует программирования, работы с Bot API, обработчиками событий и хранением данных.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397764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 no-code инструментарий, где логика бота задаётся готовыми элементами — состояниями, узлами, сообщениями, клавиатурами, триггерами и действиями.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5486400"/>
            <a:ext cx="8961120" cy="566928"/>
          </a:xfrm>
          <a:prstGeom prst="rect">
            <a:avLst/>
          </a:prstGeom>
          <a:solidFill>
            <a:srgbClr val="EEF6FF"/>
          </a:solidFill>
          <a:ln w="12700">
            <a:solidFill>
              <a:srgbClr val="C6DA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Практическая потребность: быстро создавать FAQ-боты, заявочные боты и боты для тестирования без изменения исходного кода.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Цель, объект и задачи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Формулировка исследования и практического результата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01400" y="6437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3703320" cy="100584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инструментария для no-code создания Telegram-ботов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26280" y="1234440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разработки Telegram-ботов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09560" y="1234440"/>
            <a:ext cx="35661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программное обеспечение для описания логики бота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задачи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3127248"/>
            <a:ext cx="10698480" cy="0"/>
          </a:xfrm>
          <a:prstGeom prst="line">
            <a:avLst/>
          </a:prstGeom>
          <a:noFill/>
          <a:ln w="254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46120"/>
            <a:ext cx="411480" cy="38404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32644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проанализировать особенности разработки Telegram-ботов и существующие no-code решения;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822192"/>
            <a:ext cx="411480" cy="38404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8404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отобрать адекватные задаче инструментальные средства;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398264"/>
            <a:ext cx="411480" cy="38404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44165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спроектировать модель сценарного Telegram-бота;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974336"/>
            <a:ext cx="411480" cy="38404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9926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инструментарий и проверить его работу на типовых сценариях.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5897880"/>
            <a:ext cx="9784080" cy="502920"/>
          </a:xfrm>
          <a:prstGeom prst="rect">
            <a:avLst/>
          </a:prstGeom>
          <a:solidFill>
            <a:srgbClr val="EAFBF4"/>
          </a:solidFill>
          <a:ln w="12700">
            <a:solidFill>
              <a:srgbClr val="B7EE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работы: программный продукт, позволяющий создавать и настраивать Telegram-ботов через управляющего Telegram-бота.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Особенности разработки Telegram-ботов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обычно должен реализовать разработчик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01400" y="6437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359152" y="228600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242816" y="228600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126480" y="228600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010144" y="228600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893808" y="228600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40080" y="1828800"/>
            <a:ext cx="1719072" cy="91440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BotFather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бота и получение токена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2523744" y="1828800"/>
            <a:ext cx="17190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API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 данными между приложением и Telegram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4407408" y="1828800"/>
            <a:ext cx="17190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Обновления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polling или webhook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6291072" y="1828800"/>
            <a:ext cx="17190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Обработчики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сообщения, команды, кнопки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8174736" y="1828800"/>
            <a:ext cx="17190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Состояния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 пользователя и переходы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10058400" y="1828800"/>
            <a:ext cx="17190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Ответы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 и клавиатуры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777240" y="33375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для проектирования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" y="3721608"/>
            <a:ext cx="10607040" cy="0"/>
          </a:xfrm>
          <a:prstGeom prst="line">
            <a:avLst/>
          </a:prstGeom>
          <a:noFill/>
          <a:ln w="25400">
            <a:solidFill>
              <a:srgbClr val="2F6F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794760"/>
            <a:ext cx="10149840" cy="146304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бот работает в событийной модели и реагирует на действия разных пользователей;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для сценариев с несколькими этапами требуется хранить текущее состояние пользователя;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кнопки и клавиатуры уменьшают ручной ввод и делают сценарий управляемым;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no-code инструмент должен скрывать техническую сложность Bot API и обработчиков событий.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5623560"/>
            <a:ext cx="9326880" cy="512064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Техническая сложность переносится из пользовательской настройки в программный исполнитель сценариев.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 существующих no-code решений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Рассмотренные сервисы: Botmother, Aimylogic, SendPulse, Manybot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01400" y="6437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423160" cy="5029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Botmother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2423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визуальный редактор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интеграции и платежи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ориентация на бизнес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29000" y="1371600"/>
            <a:ext cx="2423160" cy="5029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Aimylogic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29000" y="2029968"/>
            <a:ext cx="2423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чат-боты и голосовые роботы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AI-функции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тарифные ограничения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7920" y="1371600"/>
            <a:ext cx="2423160" cy="5029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SendPulse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0" y="2029968"/>
            <a:ext cx="2423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маркетинговые цепочки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рассылки и подписчики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экосистема платформы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006840" y="1371600"/>
            <a:ext cx="2423160" cy="5029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Manybot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06840" y="2029968"/>
            <a:ext cx="2423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работа внутри Telegram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команды, меню, рассылки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ограниченный набор функций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1605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Общий вывод анализа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544568"/>
            <a:ext cx="10607040" cy="0"/>
          </a:xfrm>
          <a:prstGeom prst="line">
            <a:avLst/>
          </a:prstGeom>
          <a:noFill/>
          <a:ln w="25400">
            <a:solidFill>
              <a:srgbClr val="2F6F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709160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Сервисы позволяют создавать ботов без написания кода, но чаще являются внешними платформами и зависят от тарифов, условий сервиса и набора заранее предусмотренных функций.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4709160"/>
            <a:ext cx="5212080" cy="86868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учебных и простых прикладных сценариев требуется более контролируемый инструмент, ориентированный на сценарную логику Telegram-бота.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инструментальных средств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 реализации дипломного проекта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01400" y="6437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2971800" cy="5029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2971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язык разработки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297680" y="1371600"/>
            <a:ext cx="2971800" cy="5029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aiogram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0" y="1965960"/>
            <a:ext cx="2971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асинхронное взаимодействие с Telegram Bot API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63840" y="1371600"/>
            <a:ext cx="2971800" cy="5029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Tortoise 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1965960"/>
            <a:ext cx="2971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с данными через модели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2971800" cy="5029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Loguru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2971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журналирование событий и ошибок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97680" y="2971800"/>
            <a:ext cx="2971800" cy="5029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aiofiles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97680" y="3566160"/>
            <a:ext cx="2971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асинхронная работа с файлами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863840" y="2971800"/>
            <a:ext cx="2971800" cy="5029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PyCharm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63840" y="3566160"/>
            <a:ext cx="2971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и отладка проекта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05840" y="5166360"/>
            <a:ext cx="10149840" cy="685800"/>
          </a:xfrm>
          <a:prstGeom prst="rect">
            <a:avLst/>
          </a:prstGeom>
          <a:solidFill>
            <a:srgbClr val="EAFBF4"/>
          </a:solidFill>
          <a:ln w="12700">
            <a:solidFill>
              <a:srgbClr val="B7EE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Выбранный стек поддерживает асинхронную обработку сообщений, хранение сценариев, работу с файлами и сопровождение приложения.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программного продукта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части системы и основные логические модули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01400" y="6437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97680" y="1920240"/>
            <a:ext cx="1371600" cy="0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3017520" cy="82296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Управляющий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Telegram-бот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80760" y="1508760"/>
            <a:ext cx="3383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Созданные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пользовательские боты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сценариев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2514600"/>
            <a:ext cx="3017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сценариев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 модули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813048"/>
            <a:ext cx="10698480" cy="0"/>
          </a:xfrm>
          <a:prstGeom prst="line">
            <a:avLst/>
          </a:prstGeom>
          <a:noFill/>
          <a:ln w="25400">
            <a:solidFill>
              <a:srgbClr val="2F6F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77640"/>
            <a:ext cx="242316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ботами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3657600" y="3977640"/>
            <a:ext cx="242316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сценариев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446520" y="3977640"/>
            <a:ext cx="242316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событий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9235440" y="3977640"/>
            <a:ext cx="242316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действия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868680" y="4663440"/>
            <a:ext cx="2423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хранение данных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3657600" y="4663440"/>
            <a:ext cx="2423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клавиатуры и интерфейс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6446520" y="4663440"/>
            <a:ext cx="2423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конфигурация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9235440" y="4663440"/>
            <a:ext cx="2423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журналирование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1920240" y="5760720"/>
            <a:ext cx="8321040" cy="420624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Модульность упрощает сопровождение и дальнейшее расширение инструментария.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Сценарная модель Telegram-бота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описывается набором связанных элементов, а не кодом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01400" y="6437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0" y="2441448"/>
            <a:ext cx="457200" cy="0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389120" y="2441448"/>
            <a:ext cx="411480" cy="0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6217920" y="1764792"/>
            <a:ext cx="411480" cy="566928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75320" y="1783080"/>
            <a:ext cx="457200" cy="0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17920" y="2514600"/>
            <a:ext cx="411480" cy="640080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75320" y="3154680"/>
            <a:ext cx="457200" cy="0"/>
          </a:xfrm>
          <a:prstGeom prst="line">
            <a:avLst/>
          </a:prstGeom>
          <a:noFill/>
          <a:ln w="1905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22960" y="2103120"/>
            <a:ext cx="1463040" cy="676656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2103120"/>
            <a:ext cx="1645920" cy="676656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2103120"/>
            <a:ext cx="1417320" cy="676656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Узел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29400" y="1417320"/>
            <a:ext cx="1645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Триггер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32520" y="1417320"/>
            <a:ext cx="1737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788920"/>
            <a:ext cx="1645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Сообщение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32520" y="2788920"/>
            <a:ext cx="1737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Клавиатура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12163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выполняется сценарий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4544568"/>
            <a:ext cx="10424160" cy="0"/>
          </a:xfrm>
          <a:prstGeom prst="line">
            <a:avLst/>
          </a:prstGeom>
          <a:noFill/>
          <a:ln w="25400">
            <a:solidFill>
              <a:srgbClr val="2F6F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786843"/>
            <a:ext cx="9875520" cy="132588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пользователь отправляет сообщение или нажимает кнопку;
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система определяет бота и текущее состояние пользователя;
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находится подходящий триггер;
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выполняется действие: отправка сообщения, изменение состояния или передача информации владельцу бота.</a:t>
            </a:r>
            <a:endParaRPr lang="en-US" sz="14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пользователя с системой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этапы создания сценарного Telegram-бота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01400" y="6437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103120" y="20116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49040" y="20116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94960" y="20116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040880" y="20116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86800" y="20116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332720" y="20116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94360" y="1508760"/>
            <a:ext cx="411480" cy="41148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01168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Telegram-бота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2240280" y="1508760"/>
            <a:ext cx="411480" cy="41148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201168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Указать токен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3886200" y="1508760"/>
            <a:ext cx="411480" cy="41148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86200" y="201168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состояния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5532120" y="1508760"/>
            <a:ext cx="411480" cy="41148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32120" y="201168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узлы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7178040" y="1508760"/>
            <a:ext cx="411480" cy="41148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78040" y="201168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Настроить сообщения и клавиатуры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8823960" y="1508760"/>
            <a:ext cx="411480" cy="41148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23960" y="201168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триггеры и действия</a:t>
            </a:r>
            <a:endParaRPr lang="en-US" sz="1170" dirty="0"/>
          </a:p>
        </p:txBody>
      </p:sp>
      <p:sp>
        <p:nvSpPr>
          <p:cNvPr id="24" name="Text 22"/>
          <p:cNvSpPr/>
          <p:nvPr/>
        </p:nvSpPr>
        <p:spPr>
          <a:xfrm>
            <a:off x="10469880" y="1508760"/>
            <a:ext cx="411480" cy="41148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469880" y="201168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работу бота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822960" y="315468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получает пользователь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2960" y="3538728"/>
            <a:ext cx="10607040" cy="0"/>
          </a:xfrm>
          <a:prstGeom prst="line">
            <a:avLst/>
          </a:prstGeom>
          <a:noFill/>
          <a:ln w="25400">
            <a:solidFill>
              <a:srgbClr val="2F6F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703320"/>
            <a:ext cx="5120640" cy="100584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создаёт структуру будущего бота через управляющего Telegram-бота. После настройки сценарий сохраняется и используется созданным ботом для обработки сообщений и нажатий кнопок.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63640" y="3703320"/>
            <a:ext cx="4983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обнаружении ошибки пользователь возвращается к настройке сценария и изменяет нужный элемент без редактирования программного кода.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874520" y="5486400"/>
            <a:ext cx="8595360" cy="5029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Функциональная модель описана через диаграмму вариантов использования: основной актор — пользователь системы.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на типовых сценариях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FAQ-бот, заявочный бот, бот для тестирования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01400" y="6437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2834640" cy="5029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FAQ-бот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834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справочные разделы
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кнопки меню
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отправка подготовленных ответов</a:t>
            </a:r>
            <a:endParaRPr lang="en-US" sz="1370" dirty="0"/>
          </a:p>
        </p:txBody>
      </p:sp>
      <p:sp>
        <p:nvSpPr>
          <p:cNvPr id="8" name="Text 6"/>
          <p:cNvSpPr/>
          <p:nvPr/>
        </p:nvSpPr>
        <p:spPr>
          <a:xfrm>
            <a:off x="4343400" y="1371600"/>
            <a:ext cx="2834640" cy="5029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Простой заявочный бот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43400" y="2057400"/>
            <a:ext cx="2834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сбор обращения
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последовательные состояния
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передача результата владельцу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7955280" y="1371600"/>
            <a:ext cx="2834640" cy="5029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 для тестирования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0" y="2057400"/>
            <a:ext cx="2834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набор вопросов
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варианты ответов
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переход к следующему вопросу</a:t>
            </a:r>
            <a:endParaRPr lang="en-US" sz="1370" dirty="0"/>
          </a:p>
        </p:txBody>
      </p:sp>
      <p:sp>
        <p:nvSpPr>
          <p:cNvPr id="12" name="Text 10"/>
          <p:cNvSpPr/>
          <p:nvPr/>
        </p:nvSpPr>
        <p:spPr>
          <a:xfrm>
            <a:off x="868680" y="39776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Проверяемые функции инструментария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4361688"/>
            <a:ext cx="10515600" cy="0"/>
          </a:xfrm>
          <a:prstGeom prst="line">
            <a:avLst/>
          </a:prstGeom>
          <a:noFill/>
          <a:ln w="25400">
            <a:solidFill>
              <a:srgbClr val="2F6F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526280"/>
            <a:ext cx="3063240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бота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389120" y="4526280"/>
            <a:ext cx="3063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состояния и узлы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909560" y="4526280"/>
            <a:ext cx="3063240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 и клавиатуры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68680" y="5120640"/>
            <a:ext cx="3063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триггеры и действия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89120" y="5120640"/>
            <a:ext cx="3063240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переходы между этапами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909560" y="5120640"/>
            <a:ext cx="3063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сообщений и кнопок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71600" y="5897880"/>
            <a:ext cx="9509760" cy="457200"/>
          </a:xfrm>
          <a:prstGeom prst="rect">
            <a:avLst/>
          </a:prstGeom>
          <a:solidFill>
            <a:srgbClr val="EAFBF4"/>
          </a:solidFill>
          <a:ln w="12700">
            <a:solidFill>
              <a:srgbClr val="B7EED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трёх сценариев подтвердило применимость модели для простых сценарных Telegram-ботов.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работы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реализовано и как может развиваться продукт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01400" y="6437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5120640" cy="804672"/>
          </a:xfrm>
          <a:prstGeom prst="rect">
            <a:avLst/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Разработан программный продукт — инструментарий для no-code создания Telegram-ботов на Python.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63640" y="141732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 описываются через состояния, узлы, сообщения, клавиатуры, триггеры и действия.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Достигнутые результаты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127248"/>
            <a:ext cx="4937760" cy="0"/>
          </a:xfrm>
          <a:prstGeom prst="line">
            <a:avLst/>
          </a:prstGeom>
          <a:noFill/>
          <a:ln w="25400">
            <a:solidFill>
              <a:srgbClr val="2F6F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154680"/>
            <a:ext cx="4754880" cy="182880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проанализированы особенности Telegram-ботов и no-code решения;
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обоснован выбор Python, aiogram, Loguru, aiofiles, Tortoise ORM и PyCharm;
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описана структура и принцип работы программы;
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проведена проверка на типовых сценариях.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6355080" y="27432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Направления развития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3127248"/>
            <a:ext cx="4937760" cy="0"/>
          </a:xfrm>
          <a:prstGeom prst="line">
            <a:avLst/>
          </a:prstGeom>
          <a:noFill/>
          <a:ln w="25400">
            <a:solidFill>
              <a:srgbClr val="2F6F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154680"/>
            <a:ext cx="4663440" cy="182880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расширение набора доступных действий;
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добавление готовых шаблонов ботов;
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улучшение интерфейса настройки сценариев;
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интеграции с внешними сервисами.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1143000" y="5806440"/>
            <a:ext cx="9875520" cy="5029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дипломной работы достигнута: разработан инструмент для создания типовых Telegram-ботов без написания кода пользователем.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910</Words>
  <Application>Microsoft Office PowerPoint</Application>
  <PresentationFormat>Широкоэкранный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РГПУ им. А.И. Герцена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инструментария для no-code разработки Telegram-ботов на Python</dc:title>
  <dc:subject>ВКР</dc:subject>
  <dc:creator>OpenAI</dc:creator>
  <cp:lastModifiedBy>Илья Киняев</cp:lastModifiedBy>
  <cp:revision>2</cp:revision>
  <dcterms:created xsi:type="dcterms:W3CDTF">2026-05-26T02:47:59Z</dcterms:created>
  <dcterms:modified xsi:type="dcterms:W3CDTF">2026-05-26T02:51:53Z</dcterms:modified>
</cp:coreProperties>
</file>